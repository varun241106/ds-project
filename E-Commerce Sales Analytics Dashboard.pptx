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21295C"/>
                </a:solidFill>
                <a:latin typeface="Calibri"/>
              </a:rPr>
              <a:t>Revenue by Month ($K)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312</c:v>
                </c:pt>
                <c:pt idx="1">
                  <c:v>298</c:v>
                </c:pt>
                <c:pt idx="2">
                  <c:v>341</c:v>
                </c:pt>
                <c:pt idx="3">
                  <c:v>356</c:v>
                </c:pt>
                <c:pt idx="4">
                  <c:v>372</c:v>
                </c:pt>
                <c:pt idx="5">
                  <c:v>365</c:v>
                </c:pt>
                <c:pt idx="6">
                  <c:v>388</c:v>
                </c:pt>
                <c:pt idx="7">
                  <c:v>402</c:v>
                </c:pt>
                <c:pt idx="8">
                  <c:v>395</c:v>
                </c:pt>
                <c:pt idx="9">
                  <c:v>428</c:v>
                </c:pt>
                <c:pt idx="10">
                  <c:v>512</c:v>
                </c:pt>
                <c:pt idx="11">
                  <c:v>588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6C-4F73-A62D-6CC787138B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0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08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5C7080"/>
                    </a:solidFill>
                    <a:latin typeface="Arial"/>
                  </a:rPr>
                  <a:t>Revenue ($K)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0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21295C"/>
                </a:solidFill>
                <a:latin typeface="Calibri"/>
              </a:rPr>
              <a:t>Revenue Share by Category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78-463B-93CC-77D5B8F7543C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78-463B-93CC-77D5B8F7543C}"/>
              </c:ext>
            </c:extLst>
          </c:dPt>
          <c:dPt>
            <c:idx val="2"/>
            <c:bubble3D val="0"/>
            <c:spPr>
              <a:solidFill>
                <a:srgbClr val="3E8F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78-463B-93CC-77D5B8F7543C}"/>
              </c:ext>
            </c:extLst>
          </c:dPt>
          <c:dPt>
            <c:idx val="3"/>
            <c:bubble3D val="0"/>
            <c:spPr>
              <a:solidFill>
                <a:srgbClr val="6EB0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078-463B-93CC-77D5B8F7543C}"/>
              </c:ext>
            </c:extLst>
          </c:dPt>
          <c:dPt>
            <c:idx val="4"/>
            <c:bubble3D val="0"/>
            <c:spPr>
              <a:solidFill>
                <a:srgbClr val="9FD0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078-463B-93CC-77D5B8F7543C}"/>
              </c:ext>
            </c:extLst>
          </c:dPt>
          <c:dPt>
            <c:idx val="5"/>
            <c:bubble3D val="0"/>
            <c:spPr>
              <a:solidFill>
                <a:srgbClr val="CBE6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078-463B-93CC-77D5B8F7543C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78-463B-93CC-77D5B8F7543C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78-463B-93CC-77D5B8F7543C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78-463B-93CC-77D5B8F7543C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78-463B-93CC-77D5B8F7543C}"/>
                </c:ext>
              </c:extLst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078-463B-93CC-77D5B8F7543C}"/>
                </c:ext>
              </c:extLst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078-463B-93CC-77D5B8F7543C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Apparel</c:v>
                </c:pt>
                <c:pt idx="2">
                  <c:v>Home &amp; Kitchen</c:v>
                </c:pt>
                <c:pt idx="3">
                  <c:v>Beauty</c:v>
                </c:pt>
                <c:pt idx="4">
                  <c:v>Sports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9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078-463B-93CC-77D5B8F754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623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21295C"/>
                </a:solidFill>
                <a:latin typeface="Calibri"/>
              </a:rPr>
              <a:t>Revenue by Region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  <c:pt idx="4">
                  <c:v>Middle East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1820</c:v>
                </c:pt>
                <c:pt idx="1">
                  <c:v>1240</c:v>
                </c:pt>
                <c:pt idx="2">
                  <c:v>980</c:v>
                </c:pt>
                <c:pt idx="3">
                  <c:v>410</c:v>
                </c:pt>
                <c:pt idx="4">
                  <c:v>260</c:v>
                </c:pt>
                <c:pt idx="5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4B-486C-9537-43C471935C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0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23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1887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365760"/>
            <a:ext cx="3291840" cy="32918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4343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2591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transaction data into actionable retail insights through exploratory analysis, KPI tracking, and interactive visualization.</a:t>
            </a:r>
          </a:p>
          <a:p>
            <a:pPr marL="0" indent="0">
              <a:buNone/>
            </a:pPr>
            <a:endParaRPr lang="en-US" sz="1400" i="1" dirty="0">
              <a:solidFill>
                <a:srgbClr val="C7D6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C7D6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C7D6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C7D6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C7D6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Jain-2420030789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Reddy-2420030768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Thakur Varun-2420030039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for: Data Science Coursework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retailers generate massive volumes of transactional data every day — orders, customers, products, regions, and payment records. Without a structured way to analyze this data, businesses struggle to spot trends, measure performance, or react quickly to changing customer behavior.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sales analytics dashboard that ingests raw e-commerce data and turns it into clear, decision-ready insights.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754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0" y="163677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14032" y="163677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882128" y="15453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1874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customers &amp; products sit in disconnected tables.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2834640"/>
            <a:ext cx="4754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0" y="305409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14032" y="305409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882128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Trends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82128" y="329184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view of what's selling, where, and when.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3720" y="4251960"/>
            <a:ext cx="4754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44714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14032" y="447141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882128" y="4379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882128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delays action on emerging patterns.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73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Data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48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orders, products, customers and regions into a single clean, analysis-ready dataset.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8470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47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773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Key Metrics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148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revenue, order volume, average order value and growth rate over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33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33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59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Patterns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34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top-selling categories, seasonal trends and high-value customer segments.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1330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33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59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Insights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4348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dashboard that lets stakeholders explore sales at a glance.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e-commerce transactions dataset spanning one full fiscal year, structured across five linked tables.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7665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0370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20370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48,600 rows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20370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date, customer id, status, payment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0720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80720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112,300 rows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0720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id, quantity, unit price, discount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67665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41071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410712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1,850 rows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41071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sub-category, cost, brand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01421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014216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15,400 rows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01421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date, region, segment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67665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61772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4617720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rows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461772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name, country, currency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148840"/>
            <a:ext cx="6766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166360"/>
            <a:ext cx="6766560" cy="0"/>
          </a:xfrm>
          <a:prstGeom prst="line">
            <a:avLst/>
          </a:prstGeom>
          <a:noFill/>
          <a:ln w="12700">
            <a:solidFill>
              <a:srgbClr val="C7D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15544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35240" y="16824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Tables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3035808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35240" y="316382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3858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35240" y="4517136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35240" y="46451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178K+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3400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Data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0140" y="2377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1852" y="2377440"/>
            <a:ext cx="813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raw order, product &amp; customer tables from the store's transactional database.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2766060"/>
            <a:ext cx="365760" cy="0"/>
          </a:xfrm>
          <a:prstGeom prst="line">
            <a:avLst/>
          </a:prstGeom>
          <a:noFill/>
          <a:ln w="25400">
            <a:solidFill>
              <a:srgbClr val="B9CBD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06140" y="2377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7852" y="2377440"/>
            <a:ext cx="813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standardize currency &amp; date formats.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766060"/>
            <a:ext cx="365760" cy="0"/>
          </a:xfrm>
          <a:prstGeom prst="line">
            <a:avLst/>
          </a:prstGeom>
          <a:noFill/>
          <a:ln w="25400">
            <a:solidFill>
              <a:srgbClr val="B9CBD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692140" y="2377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73852" y="2377440"/>
            <a:ext cx="813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features: revenue, margin, order recency, customer lifetime value.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2766060"/>
            <a:ext cx="365760" cy="0"/>
          </a:xfrm>
          <a:prstGeom prst="line">
            <a:avLst/>
          </a:prstGeom>
          <a:noFill/>
          <a:ln w="25400">
            <a:solidFill>
              <a:srgbClr val="B9CBD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978140" y="2377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9852" y="2377440"/>
            <a:ext cx="813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exploratory analysis to surface trends, outliers and segment behavior.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2766060"/>
            <a:ext cx="365760" cy="0"/>
          </a:xfrm>
          <a:prstGeom prst="line">
            <a:avLst/>
          </a:prstGeom>
          <a:noFill/>
          <a:ln w="25400">
            <a:solidFill>
              <a:srgbClr val="B9CBD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264140" y="2377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45852" y="2377440"/>
            <a:ext cx="813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6118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KPIs and charts to an interactive dashboard for stakeholders.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3A63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856232"/>
            <a:ext cx="722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01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for cleaning and feature engineering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3A63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8562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1856232"/>
            <a:ext cx="722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801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and joining relational transaction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3A63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18562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1856232"/>
            <a:ext cx="722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1801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statistical 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3A63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6850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685032"/>
            <a:ext cx="722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023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charts during exploration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4290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3A63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36850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3685032"/>
            <a:ext cx="722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4023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stakeholders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4290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1B3A63"/>
          </a:solidFill>
          <a:ln w="12700">
            <a:solidFill>
              <a:srgbClr val="2E4C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2" y="368503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67344" y="3685032"/>
            <a:ext cx="722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3630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372600" y="4023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collaboration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5895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50876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901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 — $588K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holiday &amp; year-end promotions.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366760" y="2926080"/>
            <a:ext cx="3291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4964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(Jan → Dec)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3319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+88.5%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3794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month-over-month climb since Q3.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366760" y="4343400"/>
            <a:ext cx="3291840" cy="1325880"/>
          </a:xfrm>
          <a:prstGeom prst="roundRect">
            <a:avLst>
              <a:gd name="adj" fmla="val 6897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4964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473659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dip in Feb suggests post-holiday slowdown — a candidate for a targeted retention campaign.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Regional Breakdown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035040" y="146304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47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revenue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860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contributes over a third of total revenue despite being only 18% of catalog listings — a strong margin opportunity.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8470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47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⇈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drive 40% of orders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2860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spikes Friday–Sunday, suggesting weekend-targeted promotions and staffing.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330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33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041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dominates, but APAC is growing fastest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5720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revenue grew 26% quarter-over-quarter — the fastest of any region.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1330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3308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041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spend 2.3x more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5720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 show significantly higher average order value than first-time buyers.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76200" dist="25400" dir="5400000" algn="bl" rotWithShape="0">
              <a:srgbClr val="1E2A3C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and currency formats across source tables required careful standardization.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 region data for ~4% of orders had to be imputed using shipping address lookups.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chart detail with dashboard load time for a smooth stakeholder experience.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predictive models to forecast next-quarter revenue and inventory needs.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customer segmentation (RFM analysis) to power targeted marketing.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real-time data refresh via a streaming pipeline instead of nightly batches.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206240" cy="42062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decisions,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 at a time.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a structured pipeline — from raw transactions to a live dashboard — can turn everyday e-commerce data into insights that guide inventory, marketing and regional strategy.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808</Words>
  <Application>Microsoft Office PowerPoint</Application>
  <PresentationFormat>Widescreen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Milan Jain</cp:lastModifiedBy>
  <cp:revision>2</cp:revision>
  <dcterms:created xsi:type="dcterms:W3CDTF">2026-09-21T04:11:01Z</dcterms:created>
  <dcterms:modified xsi:type="dcterms:W3CDTF">2026-09-29T04:42:54Z</dcterms:modified>
</cp:coreProperties>
</file>